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695" y="0"/>
                </a:moveTo>
                <a:lnTo>
                  <a:pt x="0" y="0"/>
                </a:lnTo>
                <a:lnTo>
                  <a:pt x="0" y="6858000"/>
                </a:lnTo>
                <a:lnTo>
                  <a:pt x="12191695" y="6858000"/>
                </a:lnTo>
                <a:lnTo>
                  <a:pt x="12191695" y="0"/>
                </a:lnTo>
                <a:close/>
              </a:path>
            </a:pathLst>
          </a:custGeom>
          <a:solidFill>
            <a:srgbClr val="F2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1120647"/>
            <a:ext cx="6558915" cy="1234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0219" y="6479004"/>
            <a:ext cx="236347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4185" y="6479004"/>
            <a:ext cx="14541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270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164592" y="0"/>
              <a:ext cx="12027535" cy="6858000"/>
            </a:xfrm>
            <a:custGeom>
              <a:avLst/>
              <a:gdLst/>
              <a:ahLst/>
              <a:cxnLst/>
              <a:rect l="l" t="t" r="r" b="b"/>
              <a:pathLst>
                <a:path w="12027535" h="6858000">
                  <a:moveTo>
                    <a:pt x="0" y="6858000"/>
                  </a:moveTo>
                  <a:lnTo>
                    <a:pt x="12027103" y="6858000"/>
                  </a:lnTo>
                  <a:lnTo>
                    <a:pt x="12027103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F2A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65100" cy="6858000"/>
            </a:xfrm>
            <a:custGeom>
              <a:avLst/>
              <a:gdLst/>
              <a:ahLst/>
              <a:cxnLst/>
              <a:rect l="l" t="t" r="r" b="b"/>
              <a:pathLst>
                <a:path w="165100" h="6858000">
                  <a:moveTo>
                    <a:pt x="16459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64592" y="68580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0F75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1593215">
              <a:lnSpc>
                <a:spcPts val="3240"/>
              </a:lnSpc>
              <a:spcBef>
                <a:spcPts val="605"/>
              </a:spcBef>
            </a:pPr>
            <a:r>
              <a:rPr dirty="0"/>
              <a:t>Commercial</a:t>
            </a:r>
            <a:r>
              <a:rPr spc="-135" dirty="0"/>
              <a:t> </a:t>
            </a:r>
            <a:r>
              <a:rPr dirty="0"/>
              <a:t>Smart</a:t>
            </a:r>
            <a:r>
              <a:rPr spc="-135" dirty="0"/>
              <a:t> </a:t>
            </a:r>
            <a:r>
              <a:rPr spc="-10" dirty="0"/>
              <a:t>Facility </a:t>
            </a:r>
            <a:r>
              <a:rPr dirty="0"/>
              <a:t>&amp; Sustainability </a:t>
            </a:r>
            <a:r>
              <a:rPr spc="-10" dirty="0"/>
              <a:t>Manager</a:t>
            </a: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Predictive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water,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hygiene,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and</a:t>
            </a:r>
            <a:r>
              <a:rPr sz="1500" b="0" spc="-4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maintenance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operations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for</a:t>
            </a:r>
            <a:r>
              <a:rPr sz="1500" b="0" spc="-4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D8E2EB"/>
                </a:solidFill>
                <a:latin typeface="Arial MT"/>
                <a:cs typeface="Arial MT"/>
              </a:rPr>
              <a:t>airport</a:t>
            </a:r>
            <a:r>
              <a:rPr sz="1500" b="0" spc="-5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D8E2EB"/>
                </a:solidFill>
                <a:latin typeface="Arial MT"/>
                <a:cs typeface="Arial MT"/>
              </a:rPr>
              <a:t>washrooms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7240" y="5029200"/>
            <a:ext cx="4480560" cy="0"/>
          </a:xfrm>
          <a:custGeom>
            <a:avLst/>
            <a:gdLst/>
            <a:ahLst/>
            <a:cxnLst/>
            <a:rect l="l" t="t" r="r" b="b"/>
            <a:pathLst>
              <a:path w="4480560">
                <a:moveTo>
                  <a:pt x="0" y="0"/>
                </a:moveTo>
                <a:lnTo>
                  <a:pt x="4480560" y="0"/>
                </a:lnTo>
              </a:path>
            </a:pathLst>
          </a:custGeom>
          <a:ln w="12700">
            <a:solidFill>
              <a:srgbClr val="486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5215128"/>
            <a:ext cx="4645660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8ED6CF"/>
                </a:solidFill>
                <a:latin typeface="Arial"/>
                <a:cs typeface="Arial"/>
              </a:rPr>
              <a:t>Prototype</a:t>
            </a:r>
            <a:r>
              <a:rPr sz="1100" b="1" spc="-55" dirty="0">
                <a:solidFill>
                  <a:srgbClr val="8ED6C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8ED6CF"/>
                </a:solidFill>
                <a:latin typeface="Arial"/>
                <a:cs typeface="Arial"/>
              </a:rPr>
              <a:t>scope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washrooms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1100" spc="-10" dirty="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sz="1100" dirty="0" err="1">
                <a:solidFill>
                  <a:srgbClr val="FFFFFF"/>
                </a:solidFill>
                <a:latin typeface="Arial MT"/>
                <a:cs typeface="Arial MT"/>
              </a:rPr>
              <a:t>ive</a:t>
            </a:r>
            <a:r>
              <a:rPr lang="en-IN" sz="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minute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synthetic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telemetry</a:t>
            </a: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1100" spc="-10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100" dirty="0" err="1">
                <a:solidFill>
                  <a:srgbClr val="FFFFFF"/>
                </a:solidFill>
                <a:latin typeface="Arial MT"/>
                <a:cs typeface="Arial MT"/>
              </a:rPr>
              <a:t>ive</a:t>
            </a:r>
            <a:r>
              <a:rPr lang="en-IN"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held-out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stream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58629" y="5326888"/>
            <a:ext cx="1769110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Rohit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Limaye</a:t>
            </a:r>
            <a:endParaRPr sz="1300" dirty="0">
              <a:latin typeface="Arial"/>
              <a:cs typeface="Arial"/>
            </a:endParaRPr>
          </a:p>
          <a:p>
            <a:pPr marL="606425">
              <a:lnSpc>
                <a:spcPct val="100000"/>
              </a:lnSpc>
              <a:spcBef>
                <a:spcPts val="945"/>
              </a:spcBef>
            </a:pPr>
            <a:r>
              <a:rPr sz="1100" dirty="0">
                <a:solidFill>
                  <a:srgbClr val="D8E2EB"/>
                </a:solidFill>
                <a:latin typeface="Arial MT"/>
                <a:cs typeface="Arial MT"/>
              </a:rPr>
              <a:t>PRN:</a:t>
            </a:r>
            <a:r>
              <a:rPr sz="1100" spc="-3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8E2EB"/>
                </a:solidFill>
                <a:latin typeface="Arial MT"/>
                <a:cs typeface="Arial MT"/>
              </a:rPr>
              <a:t>1262240087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06836" y="6439287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2362A8"/>
                </a:solidFill>
                <a:latin typeface="Arial"/>
                <a:cs typeface="Arial"/>
              </a:rPr>
              <a:t>02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219" y="409278"/>
            <a:ext cx="4676775" cy="80454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800" dirty="0">
                <a:solidFill>
                  <a:srgbClr val="0F2A42"/>
                </a:solidFill>
              </a:rPr>
              <a:t>Core</a:t>
            </a:r>
            <a:r>
              <a:rPr sz="2800" spc="-65" dirty="0">
                <a:solidFill>
                  <a:srgbClr val="0F2A42"/>
                </a:solidFill>
              </a:rPr>
              <a:t> </a:t>
            </a:r>
            <a:r>
              <a:rPr sz="2800" spc="-10" dirty="0">
                <a:solidFill>
                  <a:srgbClr val="0F2A42"/>
                </a:solidFill>
              </a:rPr>
              <a:t>approach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b="0" dirty="0">
                <a:solidFill>
                  <a:srgbClr val="627080"/>
                </a:solidFill>
                <a:latin typeface="Arial MT"/>
                <a:cs typeface="Arial MT"/>
              </a:rPr>
              <a:t>Turn five-minute sensor readings into explainable operational </a:t>
            </a:r>
            <a:r>
              <a:rPr sz="1200" b="0" spc="-10" dirty="0">
                <a:solidFill>
                  <a:srgbClr val="627080"/>
                </a:solidFill>
                <a:latin typeface="Arial MT"/>
                <a:cs typeface="Arial MT"/>
              </a:rPr>
              <a:t>actions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919" y="1399032"/>
            <a:ext cx="11186160" cy="0"/>
          </a:xfrm>
          <a:custGeom>
            <a:avLst/>
            <a:gdLst/>
            <a:ahLst/>
            <a:cxnLst/>
            <a:rect l="l" t="t" r="r" b="b"/>
            <a:pathLst>
              <a:path w="11186160">
                <a:moveTo>
                  <a:pt x="0" y="0"/>
                </a:moveTo>
                <a:lnTo>
                  <a:pt x="11185855" y="0"/>
                </a:lnTo>
              </a:path>
            </a:pathLst>
          </a:custGeom>
          <a:ln w="8890">
            <a:solidFill>
              <a:srgbClr val="D8E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7840" y="1732279"/>
            <a:ext cx="3164840" cy="3256279"/>
            <a:chOff x="497840" y="1732279"/>
            <a:chExt cx="3164840" cy="3256279"/>
          </a:xfrm>
        </p:grpSpPr>
        <p:sp>
          <p:nvSpPr>
            <p:cNvPr id="6" name="object 6"/>
            <p:cNvSpPr/>
            <p:nvPr/>
          </p:nvSpPr>
          <p:spPr>
            <a:xfrm>
              <a:off x="502920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302768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lnTo>
                    <a:pt x="3027680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80" y="3119120"/>
                  </a:lnTo>
                  <a:lnTo>
                    <a:pt x="3154680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80" y="0"/>
                  </a:lnTo>
                  <a:close/>
                </a:path>
              </a:pathLst>
            </a:custGeom>
            <a:solidFill>
              <a:srgbClr val="E8F0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920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127000" y="3246120"/>
                  </a:moveTo>
                  <a:lnTo>
                    <a:pt x="3027680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80" y="3119120"/>
                  </a:lnTo>
                  <a:lnTo>
                    <a:pt x="3154680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8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close/>
                </a:path>
              </a:pathLst>
            </a:custGeom>
            <a:ln w="101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9676" y="1861820"/>
            <a:ext cx="119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A42"/>
                </a:solidFill>
                <a:latin typeface="Arial"/>
                <a:cs typeface="Arial"/>
              </a:rPr>
              <a:t>1</a:t>
            </a:r>
            <a:r>
              <a:rPr sz="1800" b="1" spc="50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A42"/>
                </a:solidFill>
                <a:latin typeface="Arial"/>
                <a:cs typeface="Arial"/>
              </a:rPr>
              <a:t>Observe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9140" y="2484120"/>
            <a:ext cx="76200" cy="1247140"/>
            <a:chOff x="739140" y="2484120"/>
            <a:chExt cx="76200" cy="12471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" y="2484120"/>
              <a:ext cx="76200" cy="76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" y="3069336"/>
              <a:ext cx="76200" cy="76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" y="3654552"/>
              <a:ext cx="76200" cy="762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0844" y="2414270"/>
            <a:ext cx="23755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Flow,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pressure,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flushes,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taps,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urinal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use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0844" y="2999485"/>
            <a:ext cx="19450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Water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tank,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consumables,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bin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fill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0844" y="3584702"/>
            <a:ext cx="23602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Odor/VOC,</a:t>
            </a:r>
            <a:r>
              <a:rPr sz="1200" spc="-3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humidity,</a:t>
            </a:r>
            <a:r>
              <a:rPr sz="1200" spc="-3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temperature,</a:t>
            </a:r>
            <a:r>
              <a:rPr sz="1200" spc="-3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CO2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36567" y="1732279"/>
            <a:ext cx="3164840" cy="3256279"/>
            <a:chOff x="4036567" y="1732279"/>
            <a:chExt cx="3164840" cy="3256279"/>
          </a:xfrm>
        </p:grpSpPr>
        <p:sp>
          <p:nvSpPr>
            <p:cNvPr id="17" name="object 17"/>
            <p:cNvSpPr/>
            <p:nvPr/>
          </p:nvSpPr>
          <p:spPr>
            <a:xfrm>
              <a:off x="4041647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3027679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lnTo>
                    <a:pt x="3027679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79" y="3119120"/>
                  </a:lnTo>
                  <a:lnTo>
                    <a:pt x="3154679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79" y="0"/>
                  </a:lnTo>
                  <a:close/>
                </a:path>
              </a:pathLst>
            </a:custGeom>
            <a:solidFill>
              <a:srgbClr val="E6F6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41647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127000" y="3246120"/>
                  </a:moveTo>
                  <a:lnTo>
                    <a:pt x="3027679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79" y="3119120"/>
                  </a:lnTo>
                  <a:lnTo>
                    <a:pt x="3154679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79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close/>
                </a:path>
              </a:pathLst>
            </a:custGeom>
            <a:ln w="101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48403" y="1861820"/>
            <a:ext cx="105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A42"/>
                </a:solidFill>
                <a:latin typeface="Arial"/>
                <a:cs typeface="Arial"/>
              </a:rPr>
              <a:t>2</a:t>
            </a:r>
            <a:r>
              <a:rPr sz="1800" b="1" spc="50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A42"/>
                </a:solidFill>
                <a:latin typeface="Arial"/>
                <a:cs typeface="Arial"/>
              </a:rPr>
              <a:t>Predict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77867" y="2484120"/>
            <a:ext cx="76200" cy="1247140"/>
            <a:chOff x="4277867" y="2484120"/>
            <a:chExt cx="76200" cy="124714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7867" y="2484120"/>
              <a:ext cx="76200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7867" y="3069336"/>
              <a:ext cx="76200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7867" y="3654552"/>
              <a:ext cx="76200" cy="76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449571" y="2414270"/>
            <a:ext cx="210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Excess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flow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persists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for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20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minutes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49571" y="2999485"/>
            <a:ext cx="23387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Cleaning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breach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in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next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30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minutes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49571" y="3584702"/>
            <a:ext cx="23456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Next-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day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next-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week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water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demand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75295" y="1732279"/>
            <a:ext cx="3164840" cy="3256279"/>
            <a:chOff x="7575295" y="1732279"/>
            <a:chExt cx="3164840" cy="3256279"/>
          </a:xfrm>
        </p:grpSpPr>
        <p:sp>
          <p:nvSpPr>
            <p:cNvPr id="28" name="object 28"/>
            <p:cNvSpPr/>
            <p:nvPr/>
          </p:nvSpPr>
          <p:spPr>
            <a:xfrm>
              <a:off x="7580375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3027679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lnTo>
                    <a:pt x="3027679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79" y="3119120"/>
                  </a:lnTo>
                  <a:lnTo>
                    <a:pt x="3154679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79" y="0"/>
                  </a:lnTo>
                  <a:close/>
                </a:path>
              </a:pathLst>
            </a:custGeom>
            <a:solidFill>
              <a:srgbClr val="FFF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80375" y="1737359"/>
              <a:ext cx="3154680" cy="3246120"/>
            </a:xfrm>
            <a:custGeom>
              <a:avLst/>
              <a:gdLst/>
              <a:ahLst/>
              <a:cxnLst/>
              <a:rect l="l" t="t" r="r" b="b"/>
              <a:pathLst>
                <a:path w="3154679" h="3246120">
                  <a:moveTo>
                    <a:pt x="127000" y="3246120"/>
                  </a:moveTo>
                  <a:lnTo>
                    <a:pt x="3027679" y="3246120"/>
                  </a:lnTo>
                  <a:lnTo>
                    <a:pt x="3077141" y="3236148"/>
                  </a:lnTo>
                  <a:lnTo>
                    <a:pt x="3117507" y="3208947"/>
                  </a:lnTo>
                  <a:lnTo>
                    <a:pt x="3144708" y="3168581"/>
                  </a:lnTo>
                  <a:lnTo>
                    <a:pt x="3154679" y="3119120"/>
                  </a:lnTo>
                  <a:lnTo>
                    <a:pt x="3154679" y="127000"/>
                  </a:lnTo>
                  <a:lnTo>
                    <a:pt x="3144708" y="77538"/>
                  </a:lnTo>
                  <a:lnTo>
                    <a:pt x="3117507" y="37172"/>
                  </a:lnTo>
                  <a:lnTo>
                    <a:pt x="3077141" y="9971"/>
                  </a:lnTo>
                  <a:lnTo>
                    <a:pt x="3027679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119120"/>
                  </a:lnTo>
                  <a:lnTo>
                    <a:pt x="9971" y="3168581"/>
                  </a:lnTo>
                  <a:lnTo>
                    <a:pt x="37172" y="3208947"/>
                  </a:lnTo>
                  <a:lnTo>
                    <a:pt x="77538" y="3236148"/>
                  </a:lnTo>
                  <a:lnTo>
                    <a:pt x="127000" y="3246120"/>
                  </a:lnTo>
                  <a:close/>
                </a:path>
              </a:pathLst>
            </a:custGeom>
            <a:ln w="101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787131" y="1861820"/>
            <a:ext cx="1245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A42"/>
                </a:solidFill>
                <a:latin typeface="Arial"/>
                <a:cs typeface="Arial"/>
              </a:rPr>
              <a:t>3</a:t>
            </a:r>
            <a:r>
              <a:rPr sz="1800" b="1" spc="50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A42"/>
                </a:solidFill>
                <a:latin typeface="Arial"/>
                <a:cs typeface="Arial"/>
              </a:rPr>
              <a:t>Dispatch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16595" y="2484120"/>
            <a:ext cx="76200" cy="1247140"/>
            <a:chOff x="7816595" y="2484120"/>
            <a:chExt cx="76200" cy="124714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6595" y="2484120"/>
              <a:ext cx="76200" cy="76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6595" y="3069336"/>
              <a:ext cx="76200" cy="76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6595" y="3654552"/>
              <a:ext cx="76200" cy="762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988300" y="2414270"/>
            <a:ext cx="16338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Immediate</a:t>
            </a:r>
            <a:r>
              <a:rPr sz="1200" spc="-5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technician</a:t>
            </a:r>
            <a:r>
              <a:rPr sz="1200" spc="-5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ticket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88300" y="2999485"/>
            <a:ext cx="20637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Cleaner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route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by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risk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criticality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712464" y="3295903"/>
            <a:ext cx="238125" cy="101600"/>
          </a:xfrm>
          <a:custGeom>
            <a:avLst/>
            <a:gdLst/>
            <a:ahLst/>
            <a:cxnLst/>
            <a:rect l="l" t="t" r="r" b="b"/>
            <a:pathLst>
              <a:path w="238125" h="101600">
                <a:moveTo>
                  <a:pt x="0" y="50800"/>
                </a:moveTo>
                <a:lnTo>
                  <a:pt x="237744" y="50800"/>
                </a:lnTo>
              </a:path>
              <a:path w="238125" h="101600">
                <a:moveTo>
                  <a:pt x="237744" y="50800"/>
                </a:moveTo>
                <a:lnTo>
                  <a:pt x="136144" y="0"/>
                </a:lnTo>
              </a:path>
              <a:path w="238125" h="101600">
                <a:moveTo>
                  <a:pt x="237744" y="50800"/>
                </a:moveTo>
                <a:lnTo>
                  <a:pt x="136144" y="101600"/>
                </a:lnTo>
              </a:path>
            </a:pathLst>
          </a:custGeom>
          <a:ln w="25400">
            <a:solidFill>
              <a:srgbClr val="2362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51192" y="3295903"/>
            <a:ext cx="238125" cy="101600"/>
          </a:xfrm>
          <a:custGeom>
            <a:avLst/>
            <a:gdLst/>
            <a:ahLst/>
            <a:cxnLst/>
            <a:rect l="l" t="t" r="r" b="b"/>
            <a:pathLst>
              <a:path w="238125" h="101600">
                <a:moveTo>
                  <a:pt x="0" y="50800"/>
                </a:moveTo>
                <a:lnTo>
                  <a:pt x="237743" y="50800"/>
                </a:lnTo>
              </a:path>
              <a:path w="238125" h="101600">
                <a:moveTo>
                  <a:pt x="237743" y="50800"/>
                </a:moveTo>
                <a:lnTo>
                  <a:pt x="136143" y="0"/>
                </a:lnTo>
              </a:path>
              <a:path w="238125" h="101600">
                <a:moveTo>
                  <a:pt x="237743" y="50800"/>
                </a:moveTo>
                <a:lnTo>
                  <a:pt x="136143" y="101600"/>
                </a:lnTo>
              </a:path>
            </a:pathLst>
          </a:custGeom>
          <a:ln w="25400">
            <a:solidFill>
              <a:srgbClr val="2362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988300" y="3584702"/>
            <a:ext cx="19157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Refill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route</a:t>
            </a:r>
            <a:r>
              <a:rPr sz="1200" spc="-1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low</a:t>
            </a:r>
            <a:r>
              <a:rPr sz="1200" spc="-1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consumables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0219" y="5480303"/>
            <a:ext cx="8573135" cy="559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362A8"/>
                </a:solidFill>
                <a:latin typeface="Arial"/>
                <a:cs typeface="Arial"/>
              </a:rPr>
              <a:t>Model </a:t>
            </a:r>
            <a:r>
              <a:rPr sz="1600" b="1" spc="-10" dirty="0">
                <a:solidFill>
                  <a:srgbClr val="2362A8"/>
                </a:solidFill>
                <a:latin typeface="Arial"/>
                <a:cs typeface="Arial"/>
              </a:rPr>
              <a:t>choice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Rules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keep leak actions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auditable. Logistic regression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predicts cleaning risk. Ridge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regression forecasts normal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water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demand.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7159" y="6409790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2362A8"/>
                </a:solidFill>
                <a:latin typeface="Arial"/>
                <a:cs typeface="Arial"/>
              </a:rPr>
              <a:t>03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219" y="409278"/>
            <a:ext cx="4514850" cy="80454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800" dirty="0">
                <a:solidFill>
                  <a:srgbClr val="0F2A42"/>
                </a:solidFill>
              </a:rPr>
              <a:t>System</a:t>
            </a:r>
            <a:r>
              <a:rPr sz="2800" spc="-100" dirty="0">
                <a:solidFill>
                  <a:srgbClr val="0F2A42"/>
                </a:solidFill>
              </a:rPr>
              <a:t> </a:t>
            </a:r>
            <a:r>
              <a:rPr sz="2800" spc="-10" dirty="0">
                <a:solidFill>
                  <a:srgbClr val="0F2A42"/>
                </a:solidFill>
              </a:rPr>
              <a:t>architecture</a:t>
            </a:r>
            <a:endParaRPr sz="2800"/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b="0" dirty="0">
                <a:solidFill>
                  <a:srgbClr val="627080"/>
                </a:solidFill>
                <a:latin typeface="Arial MT"/>
                <a:cs typeface="Arial MT"/>
              </a:rPr>
              <a:t>A small, reproducible digital twin with a live browser playback </a:t>
            </a:r>
            <a:r>
              <a:rPr sz="1200" b="0" spc="-10" dirty="0">
                <a:solidFill>
                  <a:srgbClr val="627080"/>
                </a:solidFill>
                <a:latin typeface="Arial MT"/>
                <a:cs typeface="Arial MT"/>
              </a:rPr>
              <a:t>layer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919" y="1399032"/>
            <a:ext cx="11186160" cy="0"/>
          </a:xfrm>
          <a:custGeom>
            <a:avLst/>
            <a:gdLst/>
            <a:ahLst/>
            <a:cxnLst/>
            <a:rect l="l" t="t" r="r" b="b"/>
            <a:pathLst>
              <a:path w="11186160">
                <a:moveTo>
                  <a:pt x="0" y="0"/>
                </a:moveTo>
                <a:lnTo>
                  <a:pt x="11185855" y="0"/>
                </a:lnTo>
              </a:path>
            </a:pathLst>
          </a:custGeom>
          <a:ln w="8890">
            <a:solidFill>
              <a:srgbClr val="D8E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2069591"/>
            <a:ext cx="2240280" cy="1920239"/>
          </a:xfrm>
          <a:custGeom>
            <a:avLst/>
            <a:gdLst/>
            <a:ahLst/>
            <a:cxnLst/>
            <a:rect l="l" t="t" r="r" b="b"/>
            <a:pathLst>
              <a:path w="2240280" h="1920239">
                <a:moveTo>
                  <a:pt x="211328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93240"/>
                </a:lnTo>
                <a:lnTo>
                  <a:pt x="9971" y="1842701"/>
                </a:lnTo>
                <a:lnTo>
                  <a:pt x="37172" y="1883067"/>
                </a:lnTo>
                <a:lnTo>
                  <a:pt x="77538" y="1910268"/>
                </a:lnTo>
                <a:lnTo>
                  <a:pt x="127000" y="1920240"/>
                </a:lnTo>
                <a:lnTo>
                  <a:pt x="2113280" y="1920240"/>
                </a:lnTo>
                <a:lnTo>
                  <a:pt x="2162741" y="1910268"/>
                </a:lnTo>
                <a:lnTo>
                  <a:pt x="2203107" y="1883067"/>
                </a:lnTo>
                <a:lnTo>
                  <a:pt x="2230308" y="1842701"/>
                </a:lnTo>
                <a:lnTo>
                  <a:pt x="2240280" y="1793240"/>
                </a:lnTo>
                <a:lnTo>
                  <a:pt x="2240280" y="127000"/>
                </a:lnTo>
                <a:lnTo>
                  <a:pt x="2230308" y="77538"/>
                </a:lnTo>
                <a:lnTo>
                  <a:pt x="2203107" y="37172"/>
                </a:lnTo>
                <a:lnTo>
                  <a:pt x="2162741" y="9971"/>
                </a:lnTo>
                <a:lnTo>
                  <a:pt x="2113280" y="0"/>
                </a:lnTo>
                <a:close/>
              </a:path>
            </a:pathLst>
          </a:custGeom>
          <a:solidFill>
            <a:srgbClr val="E8F0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4812" y="2256535"/>
            <a:ext cx="223837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Synthetic</a:t>
            </a:r>
            <a:r>
              <a:rPr sz="1500" b="1" spc="-2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se</a:t>
            </a:r>
            <a:r>
              <a:rPr lang="en-IN" sz="1500" b="1" dirty="0" err="1">
                <a:solidFill>
                  <a:srgbClr val="0F2A42"/>
                </a:solidFill>
                <a:latin typeface="Arial"/>
                <a:cs typeface="Arial"/>
              </a:rPr>
              <a:t>nsor</a:t>
            </a:r>
            <a:r>
              <a:rPr lang="en-IN" sz="1500" b="1" dirty="0">
                <a:solidFill>
                  <a:srgbClr val="0F2A42"/>
                </a:solidFill>
                <a:latin typeface="Arial"/>
                <a:cs typeface="Arial"/>
              </a:rPr>
              <a:t> data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812" y="2718815"/>
            <a:ext cx="117347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10</a:t>
            </a:r>
            <a:r>
              <a:rPr sz="1200" spc="-1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washrooms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812" y="3029711"/>
            <a:ext cx="16624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5-minute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readings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3340608"/>
            <a:ext cx="16624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Normal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use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+</a:t>
            </a:r>
            <a:r>
              <a:rPr sz="1200" spc="-1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anomalies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46120" y="2029967"/>
            <a:ext cx="2240280" cy="1920239"/>
          </a:xfrm>
          <a:custGeom>
            <a:avLst/>
            <a:gdLst/>
            <a:ahLst/>
            <a:cxnLst/>
            <a:rect l="l" t="t" r="r" b="b"/>
            <a:pathLst>
              <a:path w="2240279" h="1920239">
                <a:moveTo>
                  <a:pt x="211328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93240"/>
                </a:lnTo>
                <a:lnTo>
                  <a:pt x="9971" y="1842701"/>
                </a:lnTo>
                <a:lnTo>
                  <a:pt x="37172" y="1883067"/>
                </a:lnTo>
                <a:lnTo>
                  <a:pt x="77538" y="1910268"/>
                </a:lnTo>
                <a:lnTo>
                  <a:pt x="127000" y="1920240"/>
                </a:lnTo>
                <a:lnTo>
                  <a:pt x="2113280" y="1920240"/>
                </a:lnTo>
                <a:lnTo>
                  <a:pt x="2162741" y="1910268"/>
                </a:lnTo>
                <a:lnTo>
                  <a:pt x="2203107" y="1883067"/>
                </a:lnTo>
                <a:lnTo>
                  <a:pt x="2230308" y="1842701"/>
                </a:lnTo>
                <a:lnTo>
                  <a:pt x="2240280" y="1793240"/>
                </a:lnTo>
                <a:lnTo>
                  <a:pt x="2240280" y="127000"/>
                </a:lnTo>
                <a:lnTo>
                  <a:pt x="2230308" y="77538"/>
                </a:lnTo>
                <a:lnTo>
                  <a:pt x="2203107" y="37172"/>
                </a:lnTo>
                <a:lnTo>
                  <a:pt x="2162741" y="9971"/>
                </a:lnTo>
                <a:lnTo>
                  <a:pt x="2113280" y="0"/>
                </a:lnTo>
                <a:close/>
              </a:path>
            </a:pathLst>
          </a:custGeom>
          <a:solidFill>
            <a:srgbClr val="E6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98011" y="2256535"/>
            <a:ext cx="1772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Data</a:t>
            </a:r>
            <a:r>
              <a:rPr sz="1500" b="1" spc="-1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and</a:t>
            </a:r>
            <a:r>
              <a:rPr sz="1500" b="1" spc="-1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split</a:t>
            </a:r>
            <a:r>
              <a:rPr sz="1500" b="1" spc="-10" dirty="0">
                <a:solidFill>
                  <a:srgbClr val="0F2A42"/>
                </a:solidFill>
                <a:latin typeface="Arial"/>
                <a:cs typeface="Arial"/>
              </a:rPr>
              <a:t> 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8010" y="2718815"/>
            <a:ext cx="13253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CSV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history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8011" y="3029711"/>
            <a:ext cx="13253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6212A"/>
                </a:solidFill>
                <a:latin typeface="Arial MT"/>
                <a:cs typeface="Arial MT"/>
              </a:rPr>
              <a:t>80%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training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8010" y="3340608"/>
            <a:ext cx="18597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20% held-out test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stream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89320" y="2029967"/>
            <a:ext cx="2240280" cy="1920239"/>
          </a:xfrm>
          <a:custGeom>
            <a:avLst/>
            <a:gdLst/>
            <a:ahLst/>
            <a:cxnLst/>
            <a:rect l="l" t="t" r="r" b="b"/>
            <a:pathLst>
              <a:path w="2240279" h="1920239">
                <a:moveTo>
                  <a:pt x="2113279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93240"/>
                </a:lnTo>
                <a:lnTo>
                  <a:pt x="9971" y="1842701"/>
                </a:lnTo>
                <a:lnTo>
                  <a:pt x="37172" y="1883067"/>
                </a:lnTo>
                <a:lnTo>
                  <a:pt x="77538" y="1910268"/>
                </a:lnTo>
                <a:lnTo>
                  <a:pt x="127000" y="1920240"/>
                </a:lnTo>
                <a:lnTo>
                  <a:pt x="2113279" y="1920240"/>
                </a:lnTo>
                <a:lnTo>
                  <a:pt x="2162741" y="1910268"/>
                </a:lnTo>
                <a:lnTo>
                  <a:pt x="2203107" y="1883067"/>
                </a:lnTo>
                <a:lnTo>
                  <a:pt x="2230308" y="1842701"/>
                </a:lnTo>
                <a:lnTo>
                  <a:pt x="2240279" y="1793240"/>
                </a:lnTo>
                <a:lnTo>
                  <a:pt x="2240279" y="127000"/>
                </a:lnTo>
                <a:lnTo>
                  <a:pt x="2230308" y="77538"/>
                </a:lnTo>
                <a:lnTo>
                  <a:pt x="2203107" y="37172"/>
                </a:lnTo>
                <a:lnTo>
                  <a:pt x="2162741" y="9971"/>
                </a:lnTo>
                <a:lnTo>
                  <a:pt x="2113279" y="0"/>
                </a:lnTo>
                <a:close/>
              </a:path>
            </a:pathLst>
          </a:custGeom>
          <a:solidFill>
            <a:srgbClr val="FFF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41211" y="2256535"/>
            <a:ext cx="14547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Prediction </a:t>
            </a:r>
            <a:r>
              <a:rPr sz="1500" b="1" spc="-10" dirty="0">
                <a:solidFill>
                  <a:srgbClr val="0F2A42"/>
                </a:solidFill>
                <a:latin typeface="Arial"/>
                <a:cs typeface="Arial"/>
              </a:rPr>
              <a:t>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41211" y="2718815"/>
            <a:ext cx="104851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Leak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rules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1210" y="3029711"/>
            <a:ext cx="153809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Cleaning</a:t>
            </a:r>
            <a:r>
              <a:rPr sz="1200" spc="-4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classifier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1211" y="3340608"/>
            <a:ext cx="1454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Water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forecast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32519" y="2029967"/>
            <a:ext cx="2834640" cy="1920239"/>
          </a:xfrm>
          <a:custGeom>
            <a:avLst/>
            <a:gdLst/>
            <a:ahLst/>
            <a:cxnLst/>
            <a:rect l="l" t="t" r="r" b="b"/>
            <a:pathLst>
              <a:path w="2834640" h="1920239">
                <a:moveTo>
                  <a:pt x="2707639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93240"/>
                </a:lnTo>
                <a:lnTo>
                  <a:pt x="9971" y="1842701"/>
                </a:lnTo>
                <a:lnTo>
                  <a:pt x="37172" y="1883067"/>
                </a:lnTo>
                <a:lnTo>
                  <a:pt x="77538" y="1910268"/>
                </a:lnTo>
                <a:lnTo>
                  <a:pt x="127000" y="1920240"/>
                </a:lnTo>
                <a:lnTo>
                  <a:pt x="2707639" y="1920240"/>
                </a:lnTo>
                <a:lnTo>
                  <a:pt x="2757101" y="1910268"/>
                </a:lnTo>
                <a:lnTo>
                  <a:pt x="2797467" y="1883067"/>
                </a:lnTo>
                <a:lnTo>
                  <a:pt x="2824668" y="1842701"/>
                </a:lnTo>
                <a:lnTo>
                  <a:pt x="2834639" y="1793240"/>
                </a:lnTo>
                <a:lnTo>
                  <a:pt x="2834639" y="127000"/>
                </a:lnTo>
                <a:lnTo>
                  <a:pt x="2824668" y="77538"/>
                </a:lnTo>
                <a:lnTo>
                  <a:pt x="2797467" y="37172"/>
                </a:lnTo>
                <a:lnTo>
                  <a:pt x="2757101" y="9971"/>
                </a:lnTo>
                <a:lnTo>
                  <a:pt x="2707639" y="0"/>
                </a:lnTo>
                <a:close/>
              </a:path>
            </a:pathLst>
          </a:custGeom>
          <a:solidFill>
            <a:srgbClr val="F2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884411" y="2256535"/>
            <a:ext cx="2058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F2A42"/>
                </a:solidFill>
                <a:latin typeface="Arial"/>
                <a:cs typeface="Arial"/>
              </a:rPr>
              <a:t>Operations </a:t>
            </a:r>
            <a:r>
              <a:rPr sz="1500" b="1" spc="-10" dirty="0">
                <a:solidFill>
                  <a:srgbClr val="0F2A42"/>
                </a:solidFill>
                <a:latin typeface="Arial"/>
                <a:cs typeface="Arial"/>
              </a:rPr>
              <a:t>dashboard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84410" y="2718815"/>
            <a:ext cx="18597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Play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random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test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reading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79776" y="2939288"/>
            <a:ext cx="375285" cy="101600"/>
          </a:xfrm>
          <a:custGeom>
            <a:avLst/>
            <a:gdLst/>
            <a:ahLst/>
            <a:cxnLst/>
            <a:rect l="l" t="t" r="r" b="b"/>
            <a:pathLst>
              <a:path w="375285" h="101600">
                <a:moveTo>
                  <a:pt x="0" y="50800"/>
                </a:moveTo>
                <a:lnTo>
                  <a:pt x="374904" y="50800"/>
                </a:lnTo>
              </a:path>
              <a:path w="375285" h="101600">
                <a:moveTo>
                  <a:pt x="374904" y="50800"/>
                </a:moveTo>
                <a:lnTo>
                  <a:pt x="273304" y="0"/>
                </a:lnTo>
              </a:path>
              <a:path w="375285" h="101600">
                <a:moveTo>
                  <a:pt x="374904" y="50800"/>
                </a:moveTo>
                <a:lnTo>
                  <a:pt x="273304" y="101600"/>
                </a:lnTo>
              </a:path>
            </a:pathLst>
          </a:custGeom>
          <a:ln w="25400">
            <a:solidFill>
              <a:srgbClr val="2362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22976" y="2939288"/>
            <a:ext cx="375285" cy="101600"/>
          </a:xfrm>
          <a:custGeom>
            <a:avLst/>
            <a:gdLst/>
            <a:ahLst/>
            <a:cxnLst/>
            <a:rect l="l" t="t" r="r" b="b"/>
            <a:pathLst>
              <a:path w="375285" h="101600">
                <a:moveTo>
                  <a:pt x="0" y="50800"/>
                </a:moveTo>
                <a:lnTo>
                  <a:pt x="374903" y="50800"/>
                </a:lnTo>
              </a:path>
              <a:path w="375285" h="101600">
                <a:moveTo>
                  <a:pt x="374903" y="50800"/>
                </a:moveTo>
                <a:lnTo>
                  <a:pt x="273303" y="0"/>
                </a:lnTo>
              </a:path>
              <a:path w="375285" h="101600">
                <a:moveTo>
                  <a:pt x="374903" y="50800"/>
                </a:moveTo>
                <a:lnTo>
                  <a:pt x="273303" y="101600"/>
                </a:lnTo>
              </a:path>
            </a:pathLst>
          </a:custGeom>
          <a:ln w="25400">
            <a:solidFill>
              <a:srgbClr val="2362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66176" y="2939288"/>
            <a:ext cx="375285" cy="101600"/>
          </a:xfrm>
          <a:custGeom>
            <a:avLst/>
            <a:gdLst/>
            <a:ahLst/>
            <a:cxnLst/>
            <a:rect l="l" t="t" r="r" b="b"/>
            <a:pathLst>
              <a:path w="375284" h="101600">
                <a:moveTo>
                  <a:pt x="0" y="50800"/>
                </a:moveTo>
                <a:lnTo>
                  <a:pt x="374903" y="50800"/>
                </a:lnTo>
              </a:path>
              <a:path w="375284" h="101600">
                <a:moveTo>
                  <a:pt x="374903" y="50800"/>
                </a:moveTo>
                <a:lnTo>
                  <a:pt x="273303" y="0"/>
                </a:lnTo>
              </a:path>
              <a:path w="375284" h="101600">
                <a:moveTo>
                  <a:pt x="374903" y="50800"/>
                </a:moveTo>
                <a:lnTo>
                  <a:pt x="273303" y="101600"/>
                </a:lnTo>
              </a:path>
            </a:pathLst>
          </a:custGeom>
          <a:ln w="25400">
            <a:solidFill>
              <a:srgbClr val="2362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84410" y="3029711"/>
            <a:ext cx="156870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Live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risk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scores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84411" y="3340608"/>
            <a:ext cx="185978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Ticket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recommendation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219" y="4376110"/>
            <a:ext cx="11579860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362A8"/>
                </a:solidFill>
                <a:latin typeface="Arial"/>
                <a:cs typeface="Arial"/>
              </a:rPr>
              <a:t>Feedback</a:t>
            </a:r>
            <a:r>
              <a:rPr sz="1600" b="1" spc="-55" dirty="0">
                <a:solidFill>
                  <a:srgbClr val="2362A8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362A8"/>
                </a:solidFill>
                <a:latin typeface="Arial"/>
                <a:cs typeface="Arial"/>
              </a:rPr>
              <a:t>loop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Every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incoming test record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is scored in the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browser using exported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model parameters, so the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demo behaves like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 live sensor feed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without requiring physical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endParaRPr lang="en-IN" sz="1200" spc="-5" dirty="0">
              <a:solidFill>
                <a:srgbClr val="16212A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IoT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hardware.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lang="en-IN" sz="1600" b="1" dirty="0">
                <a:solidFill>
                  <a:srgbClr val="2362A8"/>
                </a:solidFill>
                <a:latin typeface="Arial"/>
                <a:cs typeface="Arial"/>
              </a:rPr>
              <a:t>Future Integration</a:t>
            </a:r>
            <a:endParaRPr lang="en-IN" sz="1100" b="1" dirty="0">
              <a:solidFill>
                <a:srgbClr val="627080"/>
              </a:solidFill>
              <a:latin typeface="Arial MT"/>
              <a:cs typeface="Arial"/>
            </a:endParaRPr>
          </a:p>
          <a:p>
            <a:pPr marL="12700">
              <a:spcBef>
                <a:spcPts val="100"/>
              </a:spcBef>
            </a:pPr>
            <a:r>
              <a:rPr sz="1100" spc="-15" dirty="0">
                <a:solidFill>
                  <a:srgbClr val="627080"/>
                </a:solidFill>
                <a:latin typeface="Arial MT"/>
                <a:cs typeface="Arial MT"/>
              </a:rPr>
              <a:t> </a:t>
            </a:r>
            <a:endParaRPr lang="en-IN" sz="1100" spc="-15" dirty="0">
              <a:solidFill>
                <a:srgbClr val="62708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IN" sz="1200" dirty="0">
                <a:solidFill>
                  <a:srgbClr val="16212A"/>
                </a:solidFill>
                <a:latin typeface="Arial MT"/>
              </a:rPr>
              <a:t>R</a:t>
            </a:r>
            <a:r>
              <a:rPr sz="1200" dirty="0" err="1">
                <a:solidFill>
                  <a:srgbClr val="16212A"/>
                </a:solidFill>
                <a:latin typeface="Arial MT"/>
              </a:rPr>
              <a:t>eplace</a:t>
            </a:r>
            <a:r>
              <a:rPr sz="1200" dirty="0">
                <a:solidFill>
                  <a:srgbClr val="16212A"/>
                </a:solidFill>
                <a:latin typeface="Arial MT"/>
              </a:rPr>
              <a:t> the synthetic source with MQTT, REST or an airport facilities platform.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6540" y="6444396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2362A8"/>
                </a:solidFill>
                <a:latin typeface="Arial"/>
                <a:cs typeface="Arial"/>
              </a:rPr>
              <a:t>04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219" y="409278"/>
            <a:ext cx="5439410" cy="80454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800" dirty="0">
                <a:solidFill>
                  <a:srgbClr val="0F2A42"/>
                </a:solidFill>
              </a:rPr>
              <a:t>Tech</a:t>
            </a:r>
            <a:r>
              <a:rPr sz="2800" spc="-85" dirty="0">
                <a:solidFill>
                  <a:srgbClr val="0F2A42"/>
                </a:solidFill>
              </a:rPr>
              <a:t> </a:t>
            </a:r>
            <a:r>
              <a:rPr sz="2800" dirty="0">
                <a:solidFill>
                  <a:srgbClr val="0F2A42"/>
                </a:solidFill>
              </a:rPr>
              <a:t>stack</a:t>
            </a:r>
            <a:r>
              <a:rPr sz="2800" spc="-80" dirty="0">
                <a:solidFill>
                  <a:srgbClr val="0F2A42"/>
                </a:solidFill>
              </a:rPr>
              <a:t> </a:t>
            </a:r>
            <a:r>
              <a:rPr sz="2800" dirty="0">
                <a:solidFill>
                  <a:srgbClr val="0F2A42"/>
                </a:solidFill>
              </a:rPr>
              <a:t>and</a:t>
            </a:r>
            <a:r>
              <a:rPr sz="2800" spc="-85" dirty="0">
                <a:solidFill>
                  <a:srgbClr val="0F2A42"/>
                </a:solidFill>
              </a:rPr>
              <a:t> </a:t>
            </a:r>
            <a:r>
              <a:rPr sz="2800" dirty="0">
                <a:solidFill>
                  <a:srgbClr val="0F2A42"/>
                </a:solidFill>
              </a:rPr>
              <a:t>innovation</a:t>
            </a:r>
            <a:r>
              <a:rPr sz="2800" spc="-80" dirty="0">
                <a:solidFill>
                  <a:srgbClr val="0F2A42"/>
                </a:solidFill>
              </a:rPr>
              <a:t> </a:t>
            </a:r>
            <a:r>
              <a:rPr sz="2800" spc="-10" dirty="0">
                <a:solidFill>
                  <a:srgbClr val="0F2A42"/>
                </a:solidFill>
              </a:rPr>
              <a:t>pitch</a:t>
            </a:r>
            <a:endParaRPr sz="2800"/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b="0" dirty="0">
                <a:solidFill>
                  <a:srgbClr val="627080"/>
                </a:solidFill>
                <a:latin typeface="Arial MT"/>
                <a:cs typeface="Arial MT"/>
              </a:rPr>
              <a:t>A practical path from simulation to airport </a:t>
            </a:r>
            <a:r>
              <a:rPr sz="1200" b="0" spc="-10" dirty="0">
                <a:solidFill>
                  <a:srgbClr val="627080"/>
                </a:solidFill>
                <a:latin typeface="Arial MT"/>
                <a:cs typeface="Arial MT"/>
              </a:rPr>
              <a:t>operations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919" y="1399032"/>
            <a:ext cx="11186160" cy="0"/>
          </a:xfrm>
          <a:custGeom>
            <a:avLst/>
            <a:gdLst/>
            <a:ahLst/>
            <a:cxnLst/>
            <a:rect l="l" t="t" r="r" b="b"/>
            <a:pathLst>
              <a:path w="11186160">
                <a:moveTo>
                  <a:pt x="0" y="0"/>
                </a:moveTo>
                <a:lnTo>
                  <a:pt x="11185855" y="0"/>
                </a:lnTo>
              </a:path>
            </a:pathLst>
          </a:custGeom>
          <a:ln w="8890">
            <a:solidFill>
              <a:srgbClr val="D8E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7840" y="1613408"/>
            <a:ext cx="5222240" cy="4170679"/>
            <a:chOff x="497840" y="1613408"/>
            <a:chExt cx="5222240" cy="4170679"/>
          </a:xfrm>
        </p:grpSpPr>
        <p:sp>
          <p:nvSpPr>
            <p:cNvPr id="6" name="object 6"/>
            <p:cNvSpPr/>
            <p:nvPr/>
          </p:nvSpPr>
          <p:spPr>
            <a:xfrm>
              <a:off x="502920" y="1618488"/>
              <a:ext cx="5212080" cy="4160520"/>
            </a:xfrm>
            <a:custGeom>
              <a:avLst/>
              <a:gdLst/>
              <a:ahLst/>
              <a:cxnLst/>
              <a:rect l="l" t="t" r="r" b="b"/>
              <a:pathLst>
                <a:path w="5212080" h="4160520">
                  <a:moveTo>
                    <a:pt x="508508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033520"/>
                  </a:lnTo>
                  <a:lnTo>
                    <a:pt x="9971" y="4082981"/>
                  </a:lnTo>
                  <a:lnTo>
                    <a:pt x="37172" y="4123347"/>
                  </a:lnTo>
                  <a:lnTo>
                    <a:pt x="77538" y="4150548"/>
                  </a:lnTo>
                  <a:lnTo>
                    <a:pt x="127000" y="4160520"/>
                  </a:lnTo>
                  <a:lnTo>
                    <a:pt x="5085080" y="4160520"/>
                  </a:lnTo>
                  <a:lnTo>
                    <a:pt x="5134541" y="4150548"/>
                  </a:lnTo>
                  <a:lnTo>
                    <a:pt x="5174907" y="4123347"/>
                  </a:lnTo>
                  <a:lnTo>
                    <a:pt x="5202108" y="4082981"/>
                  </a:lnTo>
                  <a:lnTo>
                    <a:pt x="5212080" y="4033520"/>
                  </a:lnTo>
                  <a:lnTo>
                    <a:pt x="5212080" y="127000"/>
                  </a:lnTo>
                  <a:lnTo>
                    <a:pt x="5202108" y="77538"/>
                  </a:lnTo>
                  <a:lnTo>
                    <a:pt x="5174907" y="37172"/>
                  </a:lnTo>
                  <a:lnTo>
                    <a:pt x="5134541" y="9971"/>
                  </a:lnTo>
                  <a:lnTo>
                    <a:pt x="5085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920" y="1618488"/>
              <a:ext cx="5212080" cy="4160520"/>
            </a:xfrm>
            <a:custGeom>
              <a:avLst/>
              <a:gdLst/>
              <a:ahLst/>
              <a:cxnLst/>
              <a:rect l="l" t="t" r="r" b="b"/>
              <a:pathLst>
                <a:path w="5212080" h="4160520">
                  <a:moveTo>
                    <a:pt x="127000" y="4160520"/>
                  </a:moveTo>
                  <a:lnTo>
                    <a:pt x="5085080" y="4160520"/>
                  </a:lnTo>
                  <a:lnTo>
                    <a:pt x="5134541" y="4150548"/>
                  </a:lnTo>
                  <a:lnTo>
                    <a:pt x="5174907" y="4123347"/>
                  </a:lnTo>
                  <a:lnTo>
                    <a:pt x="5202108" y="4082981"/>
                  </a:lnTo>
                  <a:lnTo>
                    <a:pt x="5212080" y="4033520"/>
                  </a:lnTo>
                  <a:lnTo>
                    <a:pt x="5212080" y="127000"/>
                  </a:lnTo>
                  <a:lnTo>
                    <a:pt x="5202108" y="77538"/>
                  </a:lnTo>
                  <a:lnTo>
                    <a:pt x="5174907" y="37172"/>
                  </a:lnTo>
                  <a:lnTo>
                    <a:pt x="5134541" y="9971"/>
                  </a:lnTo>
                  <a:lnTo>
                    <a:pt x="508508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033520"/>
                  </a:lnTo>
                  <a:lnTo>
                    <a:pt x="9971" y="4082981"/>
                  </a:lnTo>
                  <a:lnTo>
                    <a:pt x="37172" y="4123347"/>
                  </a:lnTo>
                  <a:lnTo>
                    <a:pt x="77538" y="4150548"/>
                  </a:lnTo>
                  <a:lnTo>
                    <a:pt x="127000" y="4160520"/>
                  </a:lnTo>
                  <a:close/>
                </a:path>
              </a:pathLst>
            </a:custGeom>
            <a:ln w="10160">
              <a:solidFill>
                <a:srgbClr val="D8E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6251" y="1785111"/>
            <a:ext cx="12731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0F2A42"/>
                </a:solidFill>
                <a:latin typeface="Arial"/>
                <a:cs typeface="Arial"/>
              </a:rPr>
              <a:t>Tech</a:t>
            </a:r>
            <a:r>
              <a:rPr sz="1900" b="1" spc="-4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F2A42"/>
                </a:solidFill>
                <a:latin typeface="Arial"/>
                <a:cs typeface="Arial"/>
              </a:rPr>
              <a:t>stack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2367788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362A8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9020" y="2380488"/>
            <a:ext cx="1871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S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imulation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,</a:t>
            </a:r>
            <a:r>
              <a:rPr sz="1200" spc="-5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lang="en-IN" sz="1200" spc="-10" dirty="0">
                <a:solidFill>
                  <a:srgbClr val="16212A"/>
                </a:solidFill>
                <a:latin typeface="Arial MT"/>
                <a:cs typeface="Arial MT"/>
              </a:rPr>
              <a:t>O</a:t>
            </a:r>
            <a:r>
              <a:rPr sz="1200" spc="-10" dirty="0" err="1">
                <a:solidFill>
                  <a:srgbClr val="16212A"/>
                </a:solidFill>
                <a:latin typeface="Arial MT"/>
                <a:cs typeface="Arial MT"/>
              </a:rPr>
              <a:t>rchestration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2806700"/>
            <a:ext cx="1266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Pandas + </a:t>
            </a:r>
            <a:r>
              <a:rPr sz="1200" b="1" spc="-10" dirty="0">
                <a:solidFill>
                  <a:srgbClr val="2362A8"/>
                </a:solidFill>
                <a:latin typeface="Arial"/>
                <a:cs typeface="Arial"/>
              </a:rPr>
              <a:t>NumPy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020" y="2819400"/>
            <a:ext cx="26339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Fi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ve</a:t>
            </a: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minute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telemetry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features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3245611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Scikit-</a:t>
            </a:r>
            <a:r>
              <a:rPr sz="1200" b="1" spc="-10" dirty="0">
                <a:solidFill>
                  <a:srgbClr val="2362A8"/>
                </a:solidFill>
                <a:latin typeface="Arial"/>
                <a:cs typeface="Arial"/>
              </a:rPr>
              <a:t>learn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9020" y="3258311"/>
            <a:ext cx="2176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L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ogistic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Ridge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models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3684523"/>
            <a:ext cx="927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CSV + </a:t>
            </a:r>
            <a:r>
              <a:rPr sz="1200" b="1" spc="-20" dirty="0">
                <a:solidFill>
                  <a:srgbClr val="2362A8"/>
                </a:solidFill>
                <a:latin typeface="Arial"/>
                <a:cs typeface="Arial"/>
              </a:rPr>
              <a:t>JSON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9020" y="3697223"/>
            <a:ext cx="23291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P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ortable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data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browser</a:t>
            </a:r>
            <a:r>
              <a:rPr sz="1200" spc="-5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feed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4123435"/>
            <a:ext cx="1393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HTML</a:t>
            </a:r>
            <a:r>
              <a:rPr sz="1200" b="1" spc="-20" dirty="0">
                <a:solidFill>
                  <a:srgbClr val="2362A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+</a:t>
            </a:r>
            <a:r>
              <a:rPr sz="1200" b="1" spc="-15" dirty="0">
                <a:solidFill>
                  <a:srgbClr val="2362A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362A8"/>
                </a:solidFill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9020" y="4136135"/>
            <a:ext cx="21005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L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ive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dashboard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and</a:t>
            </a:r>
            <a:r>
              <a:rPr sz="1200" spc="-3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212A"/>
                </a:solidFill>
                <a:latin typeface="Arial MT"/>
                <a:cs typeface="Arial MT"/>
              </a:rPr>
              <a:t>scoring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540" y="4562347"/>
            <a:ext cx="1482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Python</a:t>
            </a:r>
            <a:r>
              <a:rPr sz="1200" b="1" spc="-40" dirty="0">
                <a:solidFill>
                  <a:srgbClr val="2362A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362A8"/>
                </a:solidFill>
                <a:latin typeface="Arial"/>
                <a:cs typeface="Arial"/>
              </a:rPr>
              <a:t>HTTP</a:t>
            </a:r>
            <a:r>
              <a:rPr sz="1200" b="1" spc="-35" dirty="0">
                <a:solidFill>
                  <a:srgbClr val="2362A8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362A8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19020" y="4575047"/>
            <a:ext cx="19481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Z</a:t>
            </a:r>
            <a:r>
              <a:rPr sz="1200" dirty="0" err="1">
                <a:solidFill>
                  <a:srgbClr val="16212A"/>
                </a:solidFill>
                <a:latin typeface="Arial MT"/>
                <a:cs typeface="Arial MT"/>
              </a:rPr>
              <a:t>ero</a:t>
            </a:r>
            <a:r>
              <a:rPr lang="en-IN" sz="1200" dirty="0">
                <a:solidFill>
                  <a:srgbClr val="16212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212A"/>
                </a:solidFill>
                <a:latin typeface="Arial MT"/>
                <a:cs typeface="Arial MT"/>
              </a:rPr>
              <a:t>infrastructure </a:t>
            </a:r>
            <a:r>
              <a:rPr sz="1200" spc="-20" dirty="0">
                <a:solidFill>
                  <a:srgbClr val="16212A"/>
                </a:solidFill>
                <a:latin typeface="Arial MT"/>
                <a:cs typeface="Arial MT"/>
              </a:rPr>
              <a:t>demo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84240" y="1613408"/>
            <a:ext cx="5707380" cy="4170679"/>
            <a:chOff x="5984240" y="1613408"/>
            <a:chExt cx="5707380" cy="4170679"/>
          </a:xfrm>
        </p:grpSpPr>
        <p:sp>
          <p:nvSpPr>
            <p:cNvPr id="22" name="object 22"/>
            <p:cNvSpPr/>
            <p:nvPr/>
          </p:nvSpPr>
          <p:spPr>
            <a:xfrm>
              <a:off x="5989320" y="1618488"/>
              <a:ext cx="5697220" cy="4160520"/>
            </a:xfrm>
            <a:custGeom>
              <a:avLst/>
              <a:gdLst/>
              <a:ahLst/>
              <a:cxnLst/>
              <a:rect l="l" t="t" r="r" b="b"/>
              <a:pathLst>
                <a:path w="5697220" h="4160520">
                  <a:moveTo>
                    <a:pt x="5569711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033520"/>
                  </a:lnTo>
                  <a:lnTo>
                    <a:pt x="9971" y="4082981"/>
                  </a:lnTo>
                  <a:lnTo>
                    <a:pt x="37172" y="4123347"/>
                  </a:lnTo>
                  <a:lnTo>
                    <a:pt x="77538" y="4150548"/>
                  </a:lnTo>
                  <a:lnTo>
                    <a:pt x="127000" y="4160520"/>
                  </a:lnTo>
                  <a:lnTo>
                    <a:pt x="5569711" y="4160520"/>
                  </a:lnTo>
                  <a:lnTo>
                    <a:pt x="5619173" y="4150548"/>
                  </a:lnTo>
                  <a:lnTo>
                    <a:pt x="5659539" y="4123347"/>
                  </a:lnTo>
                  <a:lnTo>
                    <a:pt x="5686740" y="4082981"/>
                  </a:lnTo>
                  <a:lnTo>
                    <a:pt x="5696711" y="4033520"/>
                  </a:lnTo>
                  <a:lnTo>
                    <a:pt x="5696711" y="127000"/>
                  </a:lnTo>
                  <a:lnTo>
                    <a:pt x="5686740" y="77538"/>
                  </a:lnTo>
                  <a:lnTo>
                    <a:pt x="5659539" y="37172"/>
                  </a:lnTo>
                  <a:lnTo>
                    <a:pt x="5619173" y="9971"/>
                  </a:lnTo>
                  <a:lnTo>
                    <a:pt x="5569711" y="0"/>
                  </a:lnTo>
                  <a:close/>
                </a:path>
              </a:pathLst>
            </a:custGeom>
            <a:solidFill>
              <a:srgbClr val="0F2A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89320" y="1618488"/>
              <a:ext cx="5697220" cy="4160520"/>
            </a:xfrm>
            <a:custGeom>
              <a:avLst/>
              <a:gdLst/>
              <a:ahLst/>
              <a:cxnLst/>
              <a:rect l="l" t="t" r="r" b="b"/>
              <a:pathLst>
                <a:path w="5697220" h="4160520">
                  <a:moveTo>
                    <a:pt x="127000" y="4160520"/>
                  </a:moveTo>
                  <a:lnTo>
                    <a:pt x="5569711" y="4160520"/>
                  </a:lnTo>
                  <a:lnTo>
                    <a:pt x="5619173" y="4150548"/>
                  </a:lnTo>
                  <a:lnTo>
                    <a:pt x="5659539" y="4123347"/>
                  </a:lnTo>
                  <a:lnTo>
                    <a:pt x="5686740" y="4082981"/>
                  </a:lnTo>
                  <a:lnTo>
                    <a:pt x="5696711" y="4033520"/>
                  </a:lnTo>
                  <a:lnTo>
                    <a:pt x="5696711" y="127000"/>
                  </a:lnTo>
                  <a:lnTo>
                    <a:pt x="5686740" y="77538"/>
                  </a:lnTo>
                  <a:lnTo>
                    <a:pt x="5659539" y="37172"/>
                  </a:lnTo>
                  <a:lnTo>
                    <a:pt x="5619173" y="9971"/>
                  </a:lnTo>
                  <a:lnTo>
                    <a:pt x="5569711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033520"/>
                  </a:lnTo>
                  <a:lnTo>
                    <a:pt x="9971" y="4082981"/>
                  </a:lnTo>
                  <a:lnTo>
                    <a:pt x="37172" y="4123347"/>
                  </a:lnTo>
                  <a:lnTo>
                    <a:pt x="77538" y="4150548"/>
                  </a:lnTo>
                  <a:lnTo>
                    <a:pt x="127000" y="4160520"/>
                  </a:lnTo>
                  <a:close/>
                </a:path>
              </a:pathLst>
            </a:custGeom>
            <a:ln w="10160">
              <a:solidFill>
                <a:srgbClr val="0F2A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60084" y="1785111"/>
            <a:ext cx="18891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Innovation</a:t>
            </a:r>
            <a:r>
              <a:rPr sz="19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pitch</a:t>
            </a:r>
            <a:endParaRPr sz="1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79540" y="2395220"/>
            <a:ext cx="4236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Predict maintenance need before a complaint or visible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failure.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71259" y="2484120"/>
            <a:ext cx="76200" cy="1831975"/>
            <a:chOff x="6271259" y="2484120"/>
            <a:chExt cx="76200" cy="18319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59" y="2484120"/>
              <a:ext cx="76200" cy="76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59" y="3069336"/>
              <a:ext cx="76200" cy="76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59" y="3654552"/>
              <a:ext cx="76200" cy="76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59" y="4239768"/>
              <a:ext cx="76200" cy="76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479540" y="2980435"/>
            <a:ext cx="427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Use passenger-driven demand to schedule cleaning 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refills.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79540" y="3565652"/>
            <a:ext cx="4998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Make alerts auditable by showing the sensor evidence behind each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ticket.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79540" y="4150867"/>
            <a:ext cx="5015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 digital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twin,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then connect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same contracts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real IoT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feeds.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55168" y="4697285"/>
            <a:ext cx="4354195" cy="70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8ED6CF"/>
                </a:solidFill>
                <a:latin typeface="Arial"/>
                <a:cs typeface="Arial"/>
              </a:rPr>
              <a:t>Prototype </a:t>
            </a:r>
            <a:r>
              <a:rPr sz="1000" b="1" spc="-10" dirty="0">
                <a:solidFill>
                  <a:srgbClr val="8ED6CF"/>
                </a:solidFill>
                <a:latin typeface="Arial"/>
                <a:cs typeface="Arial"/>
              </a:rPr>
              <a:t>claim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54300"/>
              </a:lnSpc>
              <a:spcBef>
                <a:spcPts val="225"/>
              </a:spcBef>
            </a:pP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The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system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turns</a:t>
            </a:r>
            <a:r>
              <a:rPr sz="1050" spc="-2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synthetic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data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into</a:t>
            </a:r>
            <a:r>
              <a:rPr sz="1050" spc="-2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a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testable</a:t>
            </a:r>
            <a:r>
              <a:rPr sz="1050" spc="-2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operating</a:t>
            </a:r>
            <a:r>
              <a:rPr sz="1050" spc="-2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D8E2EB"/>
                </a:solidFill>
                <a:latin typeface="Arial MT"/>
                <a:cs typeface="Arial MT"/>
              </a:rPr>
              <a:t>workflow.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Production</a:t>
            </a:r>
            <a:r>
              <a:rPr sz="1050" spc="-4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performance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requires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real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sensor</a:t>
            </a:r>
            <a:r>
              <a:rPr sz="1050" spc="-40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history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and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D8E2EB"/>
                </a:solidFill>
                <a:latin typeface="Arial MT"/>
                <a:cs typeface="Arial MT"/>
              </a:rPr>
              <a:t>feedback</a:t>
            </a:r>
            <a:r>
              <a:rPr sz="1050" spc="-35" dirty="0">
                <a:solidFill>
                  <a:srgbClr val="D8E2EB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D8E2EB"/>
                </a:solidFill>
                <a:latin typeface="Arial MT"/>
                <a:cs typeface="Arial MT"/>
              </a:rPr>
              <a:t>labels.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Commercial</a:t>
            </a:r>
            <a:r>
              <a:rPr spc="-1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Facility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Sustainability</a:t>
            </a:r>
            <a:r>
              <a:rPr spc="-15" dirty="0"/>
              <a:t> </a:t>
            </a:r>
            <a:r>
              <a:rPr spc="-10" dirty="0"/>
              <a:t>Manager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396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MT</vt:lpstr>
      <vt:lpstr>Calibri</vt:lpstr>
      <vt:lpstr>Office Theme</vt:lpstr>
      <vt:lpstr>Commercial Smart Facility &amp; Sustainability Manager Predictive water, hygiene, and maintenance operations for airport washrooms</vt:lpstr>
      <vt:lpstr>Core approach Turn five-minute sensor readings into explainable operational actions</vt:lpstr>
      <vt:lpstr>System architecture A small, reproducible digital twin with a live browser playback layer</vt:lpstr>
      <vt:lpstr>Tech stack and innovation pitch A practical path from simulation to airport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Smart Facility &amp; Sustainability Manager</dc:title>
  <dc:subject>unspecified</dc:subject>
  <dc:creator>Rohit Limaye</dc:creator>
  <cp:lastModifiedBy>Rohit</cp:lastModifiedBy>
  <cp:revision>1</cp:revision>
  <dcterms:created xsi:type="dcterms:W3CDTF">2026-09-20T08:48:05Z</dcterms:created>
  <dcterms:modified xsi:type="dcterms:W3CDTF">2026-09-20T09:15:46Z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2026-09-20T00:00:00Z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2026-09-20T00:00:00Z</vt:filetime>
  </property>
  <property fmtid="{D5CDD505-2E9C-101B-9397-08002B2CF9AE}" pid="6" name="Producer">
    <vt:lpwstr>ReportLab PDF Library - (opensource)</vt:lpwstr>
  </property>
</Properties>
</file>